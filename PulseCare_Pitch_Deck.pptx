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690872" cy="6858000"/>
          </a:xfrm>
          <a:prstGeom prst="rect">
            <a:avLst/>
          </a:prstGeom>
          <a:solidFill>
            <a:srgbClr val="6B9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1645920"/>
            <a:ext cx="1947672" cy="1947672"/>
          </a:xfrm>
          <a:prstGeom prst="rect">
            <a:avLst/>
          </a:prstGeom>
          <a:solidFill>
            <a:srgbClr val="3D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0" y="16916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  <a:latin typeface="Helvetica Neue"/>
              </a:rPr>
              <a:t>💚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3291840" cy="384048"/>
          </a:xfrm>
          <a:prstGeom prst="rect">
            <a:avLst/>
          </a:prstGeom>
          <a:solidFill>
            <a:srgbClr val="2A4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32552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AF4EE"/>
                </a:solidFill>
                <a:latin typeface="Helvetica Neue"/>
              </a:rPr>
              <a:t>AI-Powered Eldercare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Helvetica Neue"/>
              </a:rPr>
              <a:t>PulseCare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8D8C0"/>
                </a:solidFill>
                <a:latin typeface="Helvetica Neue"/>
              </a:rPr>
              <a:t>AI-Powered Senior Health Monitoring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11880"/>
            <a:ext cx="2194560" cy="38100"/>
          </a:xfrm>
          <a:prstGeom prst="rect">
            <a:avLst/>
          </a:prstGeom>
          <a:solidFill>
            <a:srgbClr val="6BC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673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A8"/>
                </a:solidFill>
                <a:latin typeface="Helvetica Neue"/>
              </a:rPr>
              <a:t>February Jiang  ·  yj2918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B898"/>
                </a:solidFill>
                <a:latin typeface="Helvetica Neue"/>
              </a:rPr>
              <a:t>"Your body has a story. Pulse remembers it."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649224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080"/>
                </a:solidFill>
                <a:latin typeface="Helvetica Neue"/>
              </a:rPr>
              <a:t>IEORE4576  TOPICS IN OPERATIONS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B9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D6B47"/>
                </a:solidFill>
                <a:latin typeface="Helvetica Neue"/>
              </a:rPr>
              <a:t>Motivation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080"/>
                </a:solidFill>
                <a:latin typeface="Helvetica Neue"/>
              </a:rPr>
              <a:t>72M seniors hide pain from families — crises arrive without warning.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1064240" cy="19050"/>
          </a:xfrm>
          <a:prstGeom prst="rect">
            <a:avLst/>
          </a:prstGeom>
          <a:solidFill>
            <a:srgbClr val="EA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1064240" cy="1188720"/>
          </a:xfrm>
          <a:prstGeom prst="rect">
            <a:avLst/>
          </a:prstGeom>
          <a:solidFill>
            <a:srgbClr val="FD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63500" cy="1188720"/>
          </a:xfrm>
          <a:prstGeom prst="rect">
            <a:avLst/>
          </a:prstGeom>
          <a:solidFill>
            <a:srgbClr val="C9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C1E"/>
                </a:solidFill>
                <a:latin typeface="Helvetica Neue"/>
              </a:rPr>
              <a:t>Five years ago, I lost my grandmother.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642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080"/>
                </a:solidFill>
                <a:latin typeface="Helvetica Neue"/>
              </a:rPr>
              <a:t>She hid her physical pain to avoid worrying our family. That silence — and the fall that followed — is why PulseCare exists.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78608"/>
            <a:ext cx="3474720" cy="3520440"/>
          </a:xfrm>
          <a:prstGeom prst="rect">
            <a:avLst/>
          </a:prstGeom>
          <a:solidFill>
            <a:srgbClr val="EAF4EE"/>
          </a:solidFill>
          <a:ln w="12700">
            <a:solidFill>
              <a:srgbClr val="6B9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78608"/>
            <a:ext cx="3474720" cy="91440"/>
          </a:xfrm>
          <a:prstGeom prst="rect">
            <a:avLst/>
          </a:prstGeom>
          <a:solidFill>
            <a:srgbClr val="C9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C1C1E"/>
                </a:solidFill>
                <a:latin typeface="Helvetica Neue"/>
              </a:rPr>
              <a:t>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01568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785A"/>
                </a:solidFill>
                <a:latin typeface="Helvetica Neue"/>
              </a:rPr>
              <a:t>Seniors Under-Report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04488"/>
            <a:ext cx="31455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080"/>
                </a:solidFill>
                <a:latin typeface="Helvetica Neue"/>
              </a:rPr>
              <a:t>72M independent US seniors systematically hide symptoms to avoid burdening family.
Disclosure only happens when pain is severe enough to admit — often too late.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2578608"/>
            <a:ext cx="3474720" cy="3520440"/>
          </a:xfrm>
          <a:prstGeom prst="rect">
            <a:avLst/>
          </a:prstGeom>
          <a:solidFill>
            <a:srgbClr val="EAF4EE"/>
          </a:solidFill>
          <a:ln w="12700">
            <a:solidFill>
              <a:srgbClr val="6B9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2578608"/>
            <a:ext cx="3474720" cy="91440"/>
          </a:xfrm>
          <a:prstGeom prst="rect">
            <a:avLst/>
          </a:prstGeom>
          <a:solidFill>
            <a:srgbClr val="C9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27432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C1C1E"/>
                </a:solidFill>
                <a:latin typeface="Helvetica Neue"/>
              </a:rPr>
              <a:t>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401568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785A"/>
                </a:solidFill>
                <a:latin typeface="Helvetica Neue"/>
              </a:rPr>
              <a:t>Signals Vanish Between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904488"/>
            <a:ext cx="31455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080"/>
                </a:solidFill>
                <a:latin typeface="Helvetica Neue"/>
              </a:rPr>
              <a:t>Weekly phone calls miss slow-moving patterns — 14 days of sleep debt, recurring dizziness — that build silently into a crisis.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2578608"/>
            <a:ext cx="3474720" cy="3520440"/>
          </a:xfrm>
          <a:prstGeom prst="rect">
            <a:avLst/>
          </a:prstGeom>
          <a:solidFill>
            <a:srgbClr val="E8F5EC"/>
          </a:solidFill>
          <a:ln w="12700">
            <a:solidFill>
              <a:srgbClr val="6B9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80" y="2578608"/>
            <a:ext cx="3474720" cy="91440"/>
          </a:xfrm>
          <a:prstGeom prst="rect">
            <a:avLst/>
          </a:prstGeom>
          <a:solidFill>
            <a:srgbClr val="6B9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0" y="27432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C1C1E"/>
                </a:solidFill>
                <a:latin typeface="Helvetica Neue"/>
              </a:rPr>
              <a:t>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2" y="3401568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6B47"/>
                </a:solidFill>
                <a:latin typeface="Helvetica Neue"/>
              </a:rPr>
              <a:t>PulseCare Closes the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3904488"/>
            <a:ext cx="31455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080"/>
                </a:solidFill>
                <a:latin typeface="Helvetica Neue"/>
              </a:rPr>
              <a:t>Daily conversational check-ins extract structured health signals invisibly.
Caregivers see synthesis, not noise — ranked alerts + predictive 48-hour insight.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199632"/>
            <a:ext cx="11064240" cy="502920"/>
          </a:xfrm>
          <a:prstGeom prst="rect">
            <a:avLst/>
          </a:prstGeom>
          <a:solidFill>
            <a:srgbClr val="3D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245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elvetica Neue"/>
              </a:rPr>
              <a:t>vs. Life Alert (hardware stigma)  ·  Apple Watch (raw data, no context)  ·  ElliQ ($40/mo, no predictive layer)   →   PulseCare: $29/mo · software-only · predictive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649224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080"/>
                </a:solidFill>
                <a:latin typeface="Helvetica Neue"/>
              </a:rPr>
              <a:t>IEORE4576  TOPICS IN OPERATIONS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B9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D6B47"/>
                </a:solidFill>
                <a:latin typeface="Helvetica Neue"/>
              </a:rPr>
              <a:t>Business Model &amp; Technical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080"/>
                </a:solidFill>
                <a:latin typeface="Helvetica Neue"/>
              </a:rPr>
              <a:t>High-margin SaaS powered by conditional multi-agent AI — cost scales sub-linearly with users.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1064240" cy="19050"/>
          </a:xfrm>
          <a:prstGeom prst="rect">
            <a:avLst/>
          </a:prstGeom>
          <a:solidFill>
            <a:srgbClr val="EA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5029200" cy="5212080"/>
          </a:xfrm>
          <a:prstGeom prst="rect">
            <a:avLst/>
          </a:prstGeom>
          <a:solidFill>
            <a:srgbClr val="3D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F4EE"/>
                </a:solidFill>
                <a:latin typeface="Helvetica Neue"/>
              </a:rPr>
              <a:t>Unit 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55648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Helvetica Neue"/>
              </a:rPr>
              <a:t>98.8%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529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AF4EE"/>
                </a:solidFill>
                <a:latin typeface="Helvetica Neue"/>
              </a:rPr>
              <a:t>Gross Margin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337560"/>
            <a:ext cx="4937760" cy="475488"/>
          </a:xfrm>
          <a:prstGeom prst="rect">
            <a:avLst/>
          </a:prstGeom>
          <a:solidFill>
            <a:srgbClr val="2A4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39242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$29.00 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41985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F4EE"/>
                </a:solidFill>
                <a:latin typeface="Helvetica Neue"/>
              </a:rPr>
              <a:t>Subscription per caregiver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867912"/>
            <a:ext cx="4937760" cy="475488"/>
          </a:xfrm>
          <a:prstGeom prst="rect">
            <a:avLst/>
          </a:prstGeom>
          <a:solidFill>
            <a:srgbClr val="2A4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227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~$0.06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95020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F4EE"/>
                </a:solidFill>
                <a:latin typeface="Helvetica Neue"/>
              </a:rPr>
              <a:t>LLM cost  (Gemini 2.0 Flash, conditional routing)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398264"/>
            <a:ext cx="4937760" cy="475488"/>
          </a:xfrm>
          <a:prstGeom prst="rect">
            <a:avLst/>
          </a:prstGeom>
          <a:solidFill>
            <a:srgbClr val="2A4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5312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~$0.36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4805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F4EE"/>
                </a:solidFill>
                <a:latin typeface="Helvetica Neue"/>
              </a:rPr>
              <a:t>Total COGS  (infra + compute)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928616"/>
            <a:ext cx="4937760" cy="475488"/>
          </a:xfrm>
          <a:prstGeom prst="rect">
            <a:avLst/>
          </a:prstGeom>
          <a:solidFill>
            <a:srgbClr val="2A4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98348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$28.64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50109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F4EE"/>
                </a:solidFill>
                <a:latin typeface="Helvetica Neue"/>
              </a:rPr>
              <a:t>Contribution margin per 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0350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0C4A8"/>
                </a:solidFill>
                <a:latin typeface="Helvetica Neue"/>
              </a:rPr>
              <a:t>🔒 Moat: after 60 days the senior's longitudinal baseline
is the product — irreplaceable clinical memory.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298448"/>
            <a:ext cx="5623560" cy="1170432"/>
          </a:xfrm>
          <a:prstGeom prst="rect">
            <a:avLst/>
          </a:prstGeom>
          <a:solidFill>
            <a:srgbClr val="EA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1298448"/>
            <a:ext cx="63500" cy="1170432"/>
          </a:xfrm>
          <a:prstGeom prst="rect">
            <a:avLst/>
          </a:prstGeom>
          <a:solidFill>
            <a:srgbClr val="6B9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38988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6B47"/>
                </a:solidFill>
                <a:latin typeface="Helvetica Neue"/>
              </a:rPr>
              <a:t>🔀  Conditional Multi-Agent Routing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737360"/>
            <a:ext cx="5349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080"/>
                </a:solidFill>
                <a:latin typeface="Helvetica Neue"/>
              </a:rPr>
              <a:t>LangGraph: Companion Agent handles every check-in cheaply (~$0.001). AnalystAgent fires only when severity ≥ 5 or symptoms are detected (~$0.015). A 'I'm fine' costs nothing meaningful.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542032"/>
            <a:ext cx="5623560" cy="1170432"/>
          </a:xfrm>
          <a:prstGeom prst="rect">
            <a:avLst/>
          </a:prstGeom>
          <a:solidFill>
            <a:srgbClr val="EA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2542032"/>
            <a:ext cx="63500" cy="1170432"/>
          </a:xfrm>
          <a:prstGeom prst="rect">
            <a:avLst/>
          </a:prstGeom>
          <a:solidFill>
            <a:srgbClr val="6B9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63347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6B47"/>
                </a:solidFill>
                <a:latin typeface="Helvetica Neue"/>
              </a:rPr>
              <a:t>🔬  Cross-Modal Synthesis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980944"/>
            <a:ext cx="5349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080"/>
                </a:solidFill>
                <a:latin typeface="Helvetica Neue"/>
              </a:rPr>
              <a:t>AnalystAgent fuses 60-day conversation history with Apple Watch biometrics (HR, SpO₂, HRV, sleep stages). Divergence between reported status and vitals is itself the alert — e.g. 'I feel fine' + SpO₂ 93%.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785616"/>
            <a:ext cx="5623560" cy="1170432"/>
          </a:xfrm>
          <a:prstGeom prst="rect">
            <a:avLst/>
          </a:prstGeom>
          <a:solidFill>
            <a:srgbClr val="EA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3785616"/>
            <a:ext cx="63500" cy="1170432"/>
          </a:xfrm>
          <a:prstGeom prst="rect">
            <a:avLst/>
          </a:prstGeom>
          <a:solidFill>
            <a:srgbClr val="6B9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87705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6B47"/>
                </a:solidFill>
                <a:latin typeface="Helvetica Neue"/>
              </a:rPr>
              <a:t>📚  Hybrid RAG  (FAISS + BM25)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224528"/>
            <a:ext cx="5349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080"/>
                </a:solidFill>
                <a:latin typeface="Helvetica Neue"/>
              </a:rPr>
              <a:t>Responses grounded in curated geriatric knowledge via Reciprocal Rank Fusion. Eliminates medical hallucinations and substantiates the $29/mo clinical trust premium.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5029200"/>
            <a:ext cx="5623560" cy="1170432"/>
          </a:xfrm>
          <a:prstGeom prst="rect">
            <a:avLst/>
          </a:prstGeom>
          <a:solidFill>
            <a:srgbClr val="EA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5029200"/>
            <a:ext cx="63500" cy="1170432"/>
          </a:xfrm>
          <a:prstGeom prst="rect">
            <a:avLst/>
          </a:prstGeom>
          <a:solidFill>
            <a:srgbClr val="6B9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512064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6B47"/>
                </a:solidFill>
                <a:latin typeface="Helvetica Neue"/>
              </a:rPr>
              <a:t>🛠  Forced Tool Calling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468112"/>
            <a:ext cx="5349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080"/>
                </a:solidFill>
                <a:latin typeface="Helvetica Neue"/>
              </a:rPr>
              <a:t>log_health_entry is force-called before every warm reply — guaranteeing qualitative conversation converts into structured DB rows powering every downstream alert.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649224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080"/>
                </a:solidFill>
                <a:latin typeface="Helvetica Neue"/>
              </a:rPr>
              <a:t>IEORE4576  TOPICS IN OPERATIONS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